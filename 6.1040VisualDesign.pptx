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1FBA50-DE05-4770-9C1C-BCBC51B364CC}" v="4" dt="2025-10-30T21:38:30.4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6" d="100"/>
          <a:sy n="76" d="100"/>
        </p:scale>
        <p:origin x="946"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betse Geb" userId="6c236e892e467bec" providerId="LiveId" clId="{61686847-CC8E-4E32-BF42-DE13CC643EF0}"/>
    <pc:docChg chg="custSel addSld modSld">
      <pc:chgData name="Yabetse Geb" userId="6c236e892e467bec" providerId="LiveId" clId="{61686847-CC8E-4E32-BF42-DE13CC643EF0}" dt="2025-10-30T21:39:28.058" v="897" actId="1076"/>
      <pc:docMkLst>
        <pc:docMk/>
      </pc:docMkLst>
      <pc:sldChg chg="addSp modSp mod">
        <pc:chgData name="Yabetse Geb" userId="6c236e892e467bec" providerId="LiveId" clId="{61686847-CC8E-4E32-BF42-DE13CC643EF0}" dt="2025-10-29T17:34:33.496" v="64" actId="14100"/>
        <pc:sldMkLst>
          <pc:docMk/>
          <pc:sldMk cId="1625165309" sldId="257"/>
        </pc:sldMkLst>
        <pc:spChg chg="add mod">
          <ac:chgData name="Yabetse Geb" userId="6c236e892e467bec" providerId="LiveId" clId="{61686847-CC8E-4E32-BF42-DE13CC643EF0}" dt="2025-10-29T17:34:33.496" v="64" actId="14100"/>
          <ac:spMkLst>
            <pc:docMk/>
            <pc:sldMk cId="1625165309" sldId="257"/>
            <ac:spMk id="18" creationId="{4579B449-DE85-4269-430A-7522F80EE23E}"/>
          </ac:spMkLst>
        </pc:spChg>
      </pc:sldChg>
      <pc:sldChg chg="addSp delSp modSp new mod">
        <pc:chgData name="Yabetse Geb" userId="6c236e892e467bec" providerId="LiveId" clId="{61686847-CC8E-4E32-BF42-DE13CC643EF0}" dt="2025-10-30T21:39:28.058" v="897" actId="1076"/>
        <pc:sldMkLst>
          <pc:docMk/>
          <pc:sldMk cId="2221491423" sldId="258"/>
        </pc:sldMkLst>
        <pc:spChg chg="mod">
          <ac:chgData name="Yabetse Geb" userId="6c236e892e467bec" providerId="LiveId" clId="{61686847-CC8E-4E32-BF42-DE13CC643EF0}" dt="2025-10-30T17:28:02.547" v="77" actId="20577"/>
          <ac:spMkLst>
            <pc:docMk/>
            <pc:sldMk cId="2221491423" sldId="258"/>
            <ac:spMk id="2" creationId="{39EED60D-6FC8-94A5-F708-E5CB2AA7A1B4}"/>
          </ac:spMkLst>
        </pc:spChg>
        <pc:spChg chg="del">
          <ac:chgData name="Yabetse Geb" userId="6c236e892e467bec" providerId="LiveId" clId="{61686847-CC8E-4E32-BF42-DE13CC643EF0}" dt="2025-10-30T17:37:32.707" v="78" actId="22"/>
          <ac:spMkLst>
            <pc:docMk/>
            <pc:sldMk cId="2221491423" sldId="258"/>
            <ac:spMk id="3" creationId="{88EFD54B-D3D2-EF70-1752-D9B5F103E934}"/>
          </ac:spMkLst>
        </pc:spChg>
        <pc:spChg chg="add mod">
          <ac:chgData name="Yabetse Geb" userId="6c236e892e467bec" providerId="LiveId" clId="{61686847-CC8E-4E32-BF42-DE13CC643EF0}" dt="2025-10-30T21:37:11.461" v="589" actId="1076"/>
          <ac:spMkLst>
            <pc:docMk/>
            <pc:sldMk cId="2221491423" sldId="258"/>
            <ac:spMk id="6" creationId="{9F26C984-B565-D6A9-48BE-AE75A4846C60}"/>
          </ac:spMkLst>
        </pc:spChg>
        <pc:spChg chg="add mod">
          <ac:chgData name="Yabetse Geb" userId="6c236e892e467bec" providerId="LiveId" clId="{61686847-CC8E-4E32-BF42-DE13CC643EF0}" dt="2025-10-30T21:37:15.171" v="591" actId="1076"/>
          <ac:spMkLst>
            <pc:docMk/>
            <pc:sldMk cId="2221491423" sldId="258"/>
            <ac:spMk id="9" creationId="{983114B9-2E74-A9CF-1767-B66836B40F14}"/>
          </ac:spMkLst>
        </pc:spChg>
        <pc:spChg chg="add mod">
          <ac:chgData name="Yabetse Geb" userId="6c236e892e467bec" providerId="LiveId" clId="{61686847-CC8E-4E32-BF42-DE13CC643EF0}" dt="2025-10-30T21:38:14.504" v="603" actId="1076"/>
          <ac:spMkLst>
            <pc:docMk/>
            <pc:sldMk cId="2221491423" sldId="258"/>
            <ac:spMk id="12" creationId="{9F3230ED-A02A-4D24-B28F-B7FE10E7045B}"/>
          </ac:spMkLst>
        </pc:spChg>
        <pc:spChg chg="add mod">
          <ac:chgData name="Yabetse Geb" userId="6c236e892e467bec" providerId="LiveId" clId="{61686847-CC8E-4E32-BF42-DE13CC643EF0}" dt="2025-10-30T21:38:06.934" v="600" actId="14100"/>
          <ac:spMkLst>
            <pc:docMk/>
            <pc:sldMk cId="2221491423" sldId="258"/>
            <ac:spMk id="13" creationId="{F0D64403-3A64-699F-9C6B-6C56526856DB}"/>
          </ac:spMkLst>
        </pc:spChg>
        <pc:spChg chg="add mod">
          <ac:chgData name="Yabetse Geb" userId="6c236e892e467bec" providerId="LiveId" clId="{61686847-CC8E-4E32-BF42-DE13CC643EF0}" dt="2025-10-30T21:39:28.058" v="897" actId="1076"/>
          <ac:spMkLst>
            <pc:docMk/>
            <pc:sldMk cId="2221491423" sldId="258"/>
            <ac:spMk id="14" creationId="{35D2F8C6-7D8F-084B-3004-419475F2541F}"/>
          </ac:spMkLst>
        </pc:spChg>
        <pc:picChg chg="add mod ord">
          <ac:chgData name="Yabetse Geb" userId="6c236e892e467bec" providerId="LiveId" clId="{61686847-CC8E-4E32-BF42-DE13CC643EF0}" dt="2025-10-30T17:37:39.525" v="80" actId="14100"/>
          <ac:picMkLst>
            <pc:docMk/>
            <pc:sldMk cId="2221491423" sldId="258"/>
            <ac:picMk id="5" creationId="{5B32B60D-37FA-8E9F-798F-EA39663EA6FE}"/>
          </ac:picMkLst>
        </pc:picChg>
        <pc:picChg chg="add mod">
          <ac:chgData name="Yabetse Geb" userId="6c236e892e467bec" providerId="LiveId" clId="{61686847-CC8E-4E32-BF42-DE13CC643EF0}" dt="2025-10-30T21:37:13.153" v="590" actId="1076"/>
          <ac:picMkLst>
            <pc:docMk/>
            <pc:sldMk cId="2221491423" sldId="258"/>
            <ac:picMk id="8" creationId="{9959BE3D-C995-412B-EAC6-B63A98253447}"/>
          </ac:picMkLst>
        </pc:picChg>
        <pc:picChg chg="add mod modCrop">
          <ac:chgData name="Yabetse Geb" userId="6c236e892e467bec" providerId="LiveId" clId="{61686847-CC8E-4E32-BF42-DE13CC643EF0}" dt="2025-10-30T21:37:30.394" v="593" actId="1076"/>
          <ac:picMkLst>
            <pc:docMk/>
            <pc:sldMk cId="2221491423" sldId="258"/>
            <ac:picMk id="11" creationId="{8CFD037C-5F8D-3021-8C42-FE1DBC29D77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760198-178F-4849-B48D-C17D666A2EE3}" type="datetimeFigureOut">
              <a:rPr lang="en-US" smtClean="0"/>
              <a:t>10/29/2025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48BEE5-CB89-41FE-99B1-EDE6F86B43ED}" type="slidenum">
              <a:rPr lang="en-US" smtClean="0"/>
              <a:t>‹#›</a:t>
            </a:fld>
            <a:endParaRPr lang="en-US"/>
          </a:p>
        </p:txBody>
      </p:sp>
    </p:spTree>
    <p:extLst>
      <p:ext uri="{BB962C8B-B14F-4D97-AF65-F5344CB8AC3E}">
        <p14:creationId xmlns:p14="http://schemas.microsoft.com/office/powerpoint/2010/main" val="161996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148BEE5-CB89-41FE-99B1-EDE6F86B43ED}" type="slidenum">
              <a:rPr lang="en-US" smtClean="0"/>
              <a:t>2</a:t>
            </a:fld>
            <a:endParaRPr lang="en-US"/>
          </a:p>
        </p:txBody>
      </p:sp>
    </p:spTree>
    <p:extLst>
      <p:ext uri="{BB962C8B-B14F-4D97-AF65-F5344CB8AC3E}">
        <p14:creationId xmlns:p14="http://schemas.microsoft.com/office/powerpoint/2010/main" val="404287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C8FEC-D292-B1AF-C344-96574BEC25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BAE004-5C63-B4A8-E589-45A40A9664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209A12E-168B-5309-32A4-4FCBEB6FCC3B}"/>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5" name="Footer Placeholder 4">
            <a:extLst>
              <a:ext uri="{FF2B5EF4-FFF2-40B4-BE49-F238E27FC236}">
                <a16:creationId xmlns:a16="http://schemas.microsoft.com/office/drawing/2014/main" id="{A745D4C3-2A6E-AF0B-02F1-CD5A9A3921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EDA074-6F12-85A8-C69D-85711A0A3C7D}"/>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1642258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3F016-C6C2-25FB-4AEC-1A35D06A40D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AF58A4-7AE3-7D2D-4A3A-88527C49AD6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B9BF4E-F400-C921-F6AA-C9F683F5C96C}"/>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5" name="Footer Placeholder 4">
            <a:extLst>
              <a:ext uri="{FF2B5EF4-FFF2-40B4-BE49-F238E27FC236}">
                <a16:creationId xmlns:a16="http://schemas.microsoft.com/office/drawing/2014/main" id="{C2C5EF3B-22EB-E9F6-97BF-E87758AF58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378DF7-8079-B7A0-EB15-49343E6204E6}"/>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3212633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98AA6-582A-FDCE-B613-D8D0075AD2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251EA2-DB9F-9D35-D359-DAF22C346F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0D4BC9-B6A1-D680-066A-735853C6FD68}"/>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5" name="Footer Placeholder 4">
            <a:extLst>
              <a:ext uri="{FF2B5EF4-FFF2-40B4-BE49-F238E27FC236}">
                <a16:creationId xmlns:a16="http://schemas.microsoft.com/office/drawing/2014/main" id="{61CA5616-D142-89BB-069B-6EE1977FFE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B62F824-E737-42A4-681E-DA9E7CEC8295}"/>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3939630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13637-4E62-540A-1B2A-26B2E846D9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D979B7-79EB-1174-52A5-D615BCD5BA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A86D06-8C81-8B81-CEFC-5FC7CCDEA4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DD550B-B5F1-058C-B249-B60B1282C634}"/>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6" name="Footer Placeholder 5">
            <a:extLst>
              <a:ext uri="{FF2B5EF4-FFF2-40B4-BE49-F238E27FC236}">
                <a16:creationId xmlns:a16="http://schemas.microsoft.com/office/drawing/2014/main" id="{DBC8FBC0-43C1-50E2-F2B9-E7BF9F8EBD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1B85A4-1344-5B81-D3FB-124DB59660C0}"/>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574344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9C106-66E9-F2BC-9DE6-7A87E6ADFC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85E61BE-37A0-3358-2AA0-E20784AFBC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F7D7D0-7F6C-427C-120A-B149E55962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253311-26A3-9A1B-2DC8-D4383E1486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BB3B1C-295D-FD34-BB12-18B0402B4B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00A371C-B815-2F0A-23F6-0BC4258DFAF5}"/>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8" name="Footer Placeholder 7">
            <a:extLst>
              <a:ext uri="{FF2B5EF4-FFF2-40B4-BE49-F238E27FC236}">
                <a16:creationId xmlns:a16="http://schemas.microsoft.com/office/drawing/2014/main" id="{D8EC09DB-5424-FF91-782C-20301941D85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A7A00B-5FDD-D44D-D835-3E9FDB528E1F}"/>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3093791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DD901-2FB8-D347-CD62-DB2D94884A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891C65-D604-BFF2-B5B2-ACEE22E2339E}"/>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4" name="Footer Placeholder 3">
            <a:extLst>
              <a:ext uri="{FF2B5EF4-FFF2-40B4-BE49-F238E27FC236}">
                <a16:creationId xmlns:a16="http://schemas.microsoft.com/office/drawing/2014/main" id="{4141EFBF-B78B-0AF0-AC26-5CDB7E3339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051F68-1FD6-5D79-4681-E8441B8C7CF6}"/>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3999041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C2D7D6-85FA-73AF-8C9E-933A7C1DE34A}"/>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3" name="Footer Placeholder 2">
            <a:extLst>
              <a:ext uri="{FF2B5EF4-FFF2-40B4-BE49-F238E27FC236}">
                <a16:creationId xmlns:a16="http://schemas.microsoft.com/office/drawing/2014/main" id="{6ABA2B0A-2EEC-84CD-D03F-4CEBD8C9F60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C0F402-37E4-E986-0FC8-1FB3AE9CD5DB}"/>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1771699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625AF-743C-1EEF-356E-A751D87D50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2BCC72D-15E8-2F68-B4D0-5F9EAB4342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CA1492D-B423-8E59-0B5A-43FB65AF24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5DC379-637B-2535-34C4-BB90EB4D5B58}"/>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6" name="Footer Placeholder 5">
            <a:extLst>
              <a:ext uri="{FF2B5EF4-FFF2-40B4-BE49-F238E27FC236}">
                <a16:creationId xmlns:a16="http://schemas.microsoft.com/office/drawing/2014/main" id="{077BC2B6-270C-1DA1-BE75-777A61BDE5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8B0310-A3CC-3AD9-FBE6-3710602E6044}"/>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3186025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D6DC5-916C-B549-0306-84E580BB8D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8B12705-FE42-F8D6-A394-0CDAB589E3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97CB2B2-2E21-946D-7590-218DBAB3C3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C49C14-E556-9754-19A0-6B2088420EB9}"/>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6" name="Footer Placeholder 5">
            <a:extLst>
              <a:ext uri="{FF2B5EF4-FFF2-40B4-BE49-F238E27FC236}">
                <a16:creationId xmlns:a16="http://schemas.microsoft.com/office/drawing/2014/main" id="{187AF2BC-5465-F370-26F8-E3CF020F60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91155-1C51-7876-05F2-37EAAC9BDFC2}"/>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496721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0579F-9855-BB9F-5733-06E067252B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BF3FEA-6C4C-68D1-8209-01F706A929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DBDB06-201D-CAFA-E742-B850E5DB80A0}"/>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5" name="Footer Placeholder 4">
            <a:extLst>
              <a:ext uri="{FF2B5EF4-FFF2-40B4-BE49-F238E27FC236}">
                <a16:creationId xmlns:a16="http://schemas.microsoft.com/office/drawing/2014/main" id="{7764A9D1-67D2-37E1-ADED-DD8980AE97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B42286-9E71-3A7D-C96E-C47C67404407}"/>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2532519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8101C1-353E-5336-07E7-C2CE8BDC8B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2E0539-FD94-9F6F-335B-E9E6473BF6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F8DBF-68A3-11B8-5C8E-08C6533A27F3}"/>
              </a:ext>
            </a:extLst>
          </p:cNvPr>
          <p:cNvSpPr>
            <a:spLocks noGrp="1"/>
          </p:cNvSpPr>
          <p:nvPr>
            <p:ph type="dt" sz="half" idx="10"/>
          </p:nvPr>
        </p:nvSpPr>
        <p:spPr/>
        <p:txBody>
          <a:bodyPr/>
          <a:lstStyle/>
          <a:p>
            <a:fld id="{40B9DA35-DE0D-4662-9516-4F10EC8D131F}" type="datetimeFigureOut">
              <a:rPr lang="en-US" smtClean="0"/>
              <a:t>10/29/2025</a:t>
            </a:fld>
            <a:endParaRPr lang="en-US"/>
          </a:p>
        </p:txBody>
      </p:sp>
      <p:sp>
        <p:nvSpPr>
          <p:cNvPr id="5" name="Footer Placeholder 4">
            <a:extLst>
              <a:ext uri="{FF2B5EF4-FFF2-40B4-BE49-F238E27FC236}">
                <a16:creationId xmlns:a16="http://schemas.microsoft.com/office/drawing/2014/main" id="{BD014F87-2368-FFC5-9D56-6C7E215641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08AF28-C50A-C5DB-03AE-2A68D7452309}"/>
              </a:ext>
            </a:extLst>
          </p:cNvPr>
          <p:cNvSpPr>
            <a:spLocks noGrp="1"/>
          </p:cNvSpPr>
          <p:nvPr>
            <p:ph type="sldNum" sz="quarter" idx="12"/>
          </p:nvPr>
        </p:nvSpPr>
        <p:spPr/>
        <p:txBody>
          <a:bodyPr/>
          <a:lstStyle/>
          <a:p>
            <a:fld id="{EAF6DF31-2B8E-4E55-BEF6-4212E7A75DE4}" type="slidenum">
              <a:rPr lang="en-US" smtClean="0"/>
              <a:t>‹#›</a:t>
            </a:fld>
            <a:endParaRPr lang="en-US"/>
          </a:p>
        </p:txBody>
      </p:sp>
    </p:spTree>
    <p:extLst>
      <p:ext uri="{BB962C8B-B14F-4D97-AF65-F5344CB8AC3E}">
        <p14:creationId xmlns:p14="http://schemas.microsoft.com/office/powerpoint/2010/main" val="3428362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9D6CBF-8BF8-5817-B10C-3AC2282B180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9829817-DDBF-7C91-B668-32C89C6B3E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B61927-E721-917F-97AE-F1AC253B94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B9DA35-DE0D-4662-9516-4F10EC8D131F}" type="datetimeFigureOut">
              <a:rPr lang="en-US" smtClean="0"/>
              <a:t>10/29/2025</a:t>
            </a:fld>
            <a:endParaRPr lang="en-US"/>
          </a:p>
        </p:txBody>
      </p:sp>
      <p:sp>
        <p:nvSpPr>
          <p:cNvPr id="5" name="Footer Placeholder 4">
            <a:extLst>
              <a:ext uri="{FF2B5EF4-FFF2-40B4-BE49-F238E27FC236}">
                <a16:creationId xmlns:a16="http://schemas.microsoft.com/office/drawing/2014/main" id="{5D8DAF82-9245-3E3B-BC35-758861486A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12F7E90-0B04-2B01-2E49-1B0484130FC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F6DF31-2B8E-4E55-BEF6-4212E7A75DE4}" type="slidenum">
              <a:rPr lang="en-US" smtClean="0"/>
              <a:t>‹#›</a:t>
            </a:fld>
            <a:endParaRPr lang="en-US"/>
          </a:p>
        </p:txBody>
      </p:sp>
    </p:spTree>
    <p:extLst>
      <p:ext uri="{BB962C8B-B14F-4D97-AF65-F5344CB8AC3E}">
        <p14:creationId xmlns:p14="http://schemas.microsoft.com/office/powerpoint/2010/main" val="1595548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79E45-AA78-AB39-3023-BBA87D3DAC40}"/>
              </a:ext>
            </a:extLst>
          </p:cNvPr>
          <p:cNvSpPr>
            <a:spLocks noGrp="1"/>
          </p:cNvSpPr>
          <p:nvPr>
            <p:ph type="ctrTitle"/>
          </p:nvPr>
        </p:nvSpPr>
        <p:spPr/>
        <p:txBody>
          <a:bodyPr/>
          <a:lstStyle/>
          <a:p>
            <a:r>
              <a:rPr lang="en-US" dirty="0"/>
              <a:t>6.1040 Visual Design Study</a:t>
            </a:r>
          </a:p>
        </p:txBody>
      </p:sp>
      <p:sp>
        <p:nvSpPr>
          <p:cNvPr id="3" name="Subtitle 2">
            <a:extLst>
              <a:ext uri="{FF2B5EF4-FFF2-40B4-BE49-F238E27FC236}">
                <a16:creationId xmlns:a16="http://schemas.microsoft.com/office/drawing/2014/main" id="{E645B7B8-7E1E-2D30-31CF-EB9DEC0E6A7E}"/>
              </a:ext>
            </a:extLst>
          </p:cNvPr>
          <p:cNvSpPr>
            <a:spLocks noGrp="1"/>
          </p:cNvSpPr>
          <p:nvPr>
            <p:ph type="subTitle" idx="1"/>
          </p:nvPr>
        </p:nvSpPr>
        <p:spPr/>
        <p:txBody>
          <a:bodyPr/>
          <a:lstStyle/>
          <a:p>
            <a:r>
              <a:rPr lang="en-US" dirty="0"/>
              <a:t>By: Yabetse Gebrewold</a:t>
            </a:r>
          </a:p>
        </p:txBody>
      </p:sp>
    </p:spTree>
    <p:extLst>
      <p:ext uri="{BB962C8B-B14F-4D97-AF65-F5344CB8AC3E}">
        <p14:creationId xmlns:p14="http://schemas.microsoft.com/office/powerpoint/2010/main" val="634065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4F078-2F69-0DC7-15DD-86966EBA7A93}"/>
              </a:ext>
            </a:extLst>
          </p:cNvPr>
          <p:cNvSpPr>
            <a:spLocks noGrp="1"/>
          </p:cNvSpPr>
          <p:nvPr>
            <p:ph type="title"/>
          </p:nvPr>
        </p:nvSpPr>
        <p:spPr/>
        <p:txBody>
          <a:bodyPr/>
          <a:lstStyle/>
          <a:p>
            <a:r>
              <a:rPr lang="en-US" dirty="0"/>
              <a:t>Color</a:t>
            </a:r>
          </a:p>
        </p:txBody>
      </p:sp>
      <p:pic>
        <p:nvPicPr>
          <p:cNvPr id="5" name="Content Placeholder 4">
            <a:extLst>
              <a:ext uri="{FF2B5EF4-FFF2-40B4-BE49-F238E27FC236}">
                <a16:creationId xmlns:a16="http://schemas.microsoft.com/office/drawing/2014/main" id="{C4C911BC-90A0-4A31-E2C7-258DBFE94BAC}"/>
              </a:ext>
            </a:extLst>
          </p:cNvPr>
          <p:cNvPicPr>
            <a:picLocks noGrp="1" noChangeAspect="1"/>
          </p:cNvPicPr>
          <p:nvPr>
            <p:ph idx="1"/>
          </p:nvPr>
        </p:nvPicPr>
        <p:blipFill>
          <a:blip r:embed="rId3"/>
          <a:stretch>
            <a:fillRect/>
          </a:stretch>
        </p:blipFill>
        <p:spPr>
          <a:xfrm>
            <a:off x="687972" y="1690688"/>
            <a:ext cx="1633197" cy="2780020"/>
          </a:xfrm>
          <a:prstGeom prst="rect">
            <a:avLst/>
          </a:prstGeom>
        </p:spPr>
      </p:pic>
      <p:sp>
        <p:nvSpPr>
          <p:cNvPr id="6" name="TextBox 5">
            <a:extLst>
              <a:ext uri="{FF2B5EF4-FFF2-40B4-BE49-F238E27FC236}">
                <a16:creationId xmlns:a16="http://schemas.microsoft.com/office/drawing/2014/main" id="{2C9FF920-CC66-8049-6FF3-3F42C83B9A5C}"/>
              </a:ext>
            </a:extLst>
          </p:cNvPr>
          <p:cNvSpPr txBox="1"/>
          <p:nvPr/>
        </p:nvSpPr>
        <p:spPr>
          <a:xfrm>
            <a:off x="341644" y="4567147"/>
            <a:ext cx="3788228" cy="1200329"/>
          </a:xfrm>
          <a:prstGeom prst="rect">
            <a:avLst/>
          </a:prstGeom>
          <a:noFill/>
        </p:spPr>
        <p:txBody>
          <a:bodyPr wrap="square" rtlCol="0">
            <a:spAutoFit/>
          </a:bodyPr>
          <a:lstStyle/>
          <a:p>
            <a:r>
              <a:rPr lang="en-US" dirty="0"/>
              <a:t>Calm app UI: Gradients between a navy and violet hue provide a calming background suited for sleep. </a:t>
            </a:r>
          </a:p>
        </p:txBody>
      </p:sp>
      <p:pic>
        <p:nvPicPr>
          <p:cNvPr id="8" name="Picture 7">
            <a:extLst>
              <a:ext uri="{FF2B5EF4-FFF2-40B4-BE49-F238E27FC236}">
                <a16:creationId xmlns:a16="http://schemas.microsoft.com/office/drawing/2014/main" id="{15DB2368-F435-6D85-429A-E401F15EDA92}"/>
              </a:ext>
            </a:extLst>
          </p:cNvPr>
          <p:cNvPicPr>
            <a:picLocks noChangeAspect="1"/>
          </p:cNvPicPr>
          <p:nvPr/>
        </p:nvPicPr>
        <p:blipFill>
          <a:blip r:embed="rId4"/>
          <a:stretch>
            <a:fillRect/>
          </a:stretch>
        </p:blipFill>
        <p:spPr>
          <a:xfrm>
            <a:off x="3607777" y="1501088"/>
            <a:ext cx="2766959" cy="2157290"/>
          </a:xfrm>
          <a:prstGeom prst="rect">
            <a:avLst/>
          </a:prstGeom>
        </p:spPr>
      </p:pic>
      <p:sp>
        <p:nvSpPr>
          <p:cNvPr id="9" name="TextBox 8">
            <a:extLst>
              <a:ext uri="{FF2B5EF4-FFF2-40B4-BE49-F238E27FC236}">
                <a16:creationId xmlns:a16="http://schemas.microsoft.com/office/drawing/2014/main" id="{723940F3-4D98-0BB9-5E82-4D7142ED63DC}"/>
              </a:ext>
            </a:extLst>
          </p:cNvPr>
          <p:cNvSpPr txBox="1"/>
          <p:nvPr/>
        </p:nvSpPr>
        <p:spPr>
          <a:xfrm>
            <a:off x="6752492" y="1468250"/>
            <a:ext cx="2019718" cy="2031325"/>
          </a:xfrm>
          <a:prstGeom prst="rect">
            <a:avLst/>
          </a:prstGeom>
          <a:noFill/>
        </p:spPr>
        <p:txBody>
          <a:bodyPr wrap="square" rtlCol="0">
            <a:spAutoFit/>
          </a:bodyPr>
          <a:lstStyle/>
          <a:p>
            <a:r>
              <a:rPr lang="en-US" dirty="0"/>
              <a:t>Words like “Chill” “Night” and “Cozy” are associated with this dark blue and purple gradient once again</a:t>
            </a:r>
          </a:p>
        </p:txBody>
      </p:sp>
      <p:sp>
        <p:nvSpPr>
          <p:cNvPr id="10" name="TextBox 9">
            <a:extLst>
              <a:ext uri="{FF2B5EF4-FFF2-40B4-BE49-F238E27FC236}">
                <a16:creationId xmlns:a16="http://schemas.microsoft.com/office/drawing/2014/main" id="{EDB2399C-7847-1E06-6F55-9E310D025303}"/>
              </a:ext>
            </a:extLst>
          </p:cNvPr>
          <p:cNvSpPr txBox="1"/>
          <p:nvPr/>
        </p:nvSpPr>
        <p:spPr>
          <a:xfrm>
            <a:off x="2891150" y="267921"/>
            <a:ext cx="4200211" cy="1200329"/>
          </a:xfrm>
          <a:prstGeom prst="rect">
            <a:avLst/>
          </a:prstGeom>
          <a:noFill/>
        </p:spPr>
        <p:txBody>
          <a:bodyPr wrap="square" rtlCol="0">
            <a:spAutoFit/>
          </a:bodyPr>
          <a:lstStyle/>
          <a:p>
            <a:r>
              <a:rPr lang="en-US" dirty="0"/>
              <a:t>Also see white text which is also more calming than a solid black color font and contrasts well against the dark blue and purple color hues</a:t>
            </a:r>
          </a:p>
        </p:txBody>
      </p:sp>
      <p:pic>
        <p:nvPicPr>
          <p:cNvPr id="12" name="Picture 11">
            <a:extLst>
              <a:ext uri="{FF2B5EF4-FFF2-40B4-BE49-F238E27FC236}">
                <a16:creationId xmlns:a16="http://schemas.microsoft.com/office/drawing/2014/main" id="{3286888F-92C8-38F6-5DD1-B27BC76BBE7F}"/>
              </a:ext>
            </a:extLst>
          </p:cNvPr>
          <p:cNvPicPr>
            <a:picLocks noChangeAspect="1"/>
          </p:cNvPicPr>
          <p:nvPr/>
        </p:nvPicPr>
        <p:blipFill>
          <a:blip r:embed="rId5"/>
          <a:stretch>
            <a:fillRect/>
          </a:stretch>
        </p:blipFill>
        <p:spPr>
          <a:xfrm>
            <a:off x="7779011" y="4006138"/>
            <a:ext cx="2722253" cy="2616093"/>
          </a:xfrm>
          <a:prstGeom prst="rect">
            <a:avLst/>
          </a:prstGeom>
        </p:spPr>
      </p:pic>
      <p:sp>
        <p:nvSpPr>
          <p:cNvPr id="15" name="Arrow: Right 14">
            <a:extLst>
              <a:ext uri="{FF2B5EF4-FFF2-40B4-BE49-F238E27FC236}">
                <a16:creationId xmlns:a16="http://schemas.microsoft.com/office/drawing/2014/main" id="{AD04CA59-BF51-458D-4DE2-D704CCEE75CE}"/>
              </a:ext>
            </a:extLst>
          </p:cNvPr>
          <p:cNvSpPr/>
          <p:nvPr/>
        </p:nvSpPr>
        <p:spPr>
          <a:xfrm rot="20181766">
            <a:off x="7295194" y="5554734"/>
            <a:ext cx="1140220" cy="2122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55E5A8FE-6469-6CCF-41CE-FF3724706AD5}"/>
              </a:ext>
            </a:extLst>
          </p:cNvPr>
          <p:cNvSpPr/>
          <p:nvPr/>
        </p:nvSpPr>
        <p:spPr>
          <a:xfrm rot="18976499">
            <a:off x="6140259" y="4787585"/>
            <a:ext cx="1902201" cy="2506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A534673D-AF5B-1018-78FF-1BF4AD2E3C81}"/>
              </a:ext>
            </a:extLst>
          </p:cNvPr>
          <p:cNvSpPr/>
          <p:nvPr/>
        </p:nvSpPr>
        <p:spPr>
          <a:xfrm rot="19451821">
            <a:off x="6694109" y="4954286"/>
            <a:ext cx="1993606" cy="2985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579B449-DE85-4269-430A-7522F80EE23E}"/>
              </a:ext>
            </a:extLst>
          </p:cNvPr>
          <p:cNvSpPr txBox="1"/>
          <p:nvPr/>
        </p:nvSpPr>
        <p:spPr>
          <a:xfrm>
            <a:off x="4412990" y="5807771"/>
            <a:ext cx="2887484" cy="923330"/>
          </a:xfrm>
          <a:prstGeom prst="rect">
            <a:avLst/>
          </a:prstGeom>
          <a:noFill/>
        </p:spPr>
        <p:txBody>
          <a:bodyPr wrap="square" rtlCol="0">
            <a:spAutoFit/>
          </a:bodyPr>
          <a:lstStyle/>
          <a:p>
            <a:r>
              <a:rPr lang="en-US" dirty="0"/>
              <a:t>Color </a:t>
            </a:r>
            <a:r>
              <a:rPr lang="en-US" dirty="0" err="1"/>
              <a:t>pallete</a:t>
            </a:r>
            <a:r>
              <a:rPr lang="en-US" dirty="0"/>
              <a:t> of navy and lavender purple match well together</a:t>
            </a:r>
          </a:p>
        </p:txBody>
      </p:sp>
    </p:spTree>
    <p:extLst>
      <p:ext uri="{BB962C8B-B14F-4D97-AF65-F5344CB8AC3E}">
        <p14:creationId xmlns:p14="http://schemas.microsoft.com/office/powerpoint/2010/main" val="1625165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ED60D-6FC8-94A5-F708-E5CB2AA7A1B4}"/>
              </a:ext>
            </a:extLst>
          </p:cNvPr>
          <p:cNvSpPr>
            <a:spLocks noGrp="1"/>
          </p:cNvSpPr>
          <p:nvPr>
            <p:ph type="title"/>
          </p:nvPr>
        </p:nvSpPr>
        <p:spPr/>
        <p:txBody>
          <a:bodyPr/>
          <a:lstStyle/>
          <a:p>
            <a:r>
              <a:rPr lang="en-US" dirty="0"/>
              <a:t>Typography</a:t>
            </a:r>
          </a:p>
        </p:txBody>
      </p:sp>
      <p:pic>
        <p:nvPicPr>
          <p:cNvPr id="5" name="Content Placeholder 4">
            <a:extLst>
              <a:ext uri="{FF2B5EF4-FFF2-40B4-BE49-F238E27FC236}">
                <a16:creationId xmlns:a16="http://schemas.microsoft.com/office/drawing/2014/main" id="{5B32B60D-37FA-8E9F-798F-EA39663EA6FE}"/>
              </a:ext>
            </a:extLst>
          </p:cNvPr>
          <p:cNvPicPr>
            <a:picLocks noGrp="1" noChangeAspect="1"/>
          </p:cNvPicPr>
          <p:nvPr>
            <p:ph idx="1"/>
          </p:nvPr>
        </p:nvPicPr>
        <p:blipFill>
          <a:blip r:embed="rId2"/>
          <a:stretch>
            <a:fillRect/>
          </a:stretch>
        </p:blipFill>
        <p:spPr>
          <a:xfrm>
            <a:off x="975200" y="1491328"/>
            <a:ext cx="2426762" cy="3125376"/>
          </a:xfrm>
          <a:prstGeom prst="rect">
            <a:avLst/>
          </a:prstGeom>
        </p:spPr>
      </p:pic>
      <p:sp>
        <p:nvSpPr>
          <p:cNvPr id="6" name="TextBox 5">
            <a:extLst>
              <a:ext uri="{FF2B5EF4-FFF2-40B4-BE49-F238E27FC236}">
                <a16:creationId xmlns:a16="http://schemas.microsoft.com/office/drawing/2014/main" id="{9F26C984-B565-D6A9-48BE-AE75A4846C60}"/>
              </a:ext>
            </a:extLst>
          </p:cNvPr>
          <p:cNvSpPr txBox="1"/>
          <p:nvPr/>
        </p:nvSpPr>
        <p:spPr>
          <a:xfrm>
            <a:off x="3636259" y="919470"/>
            <a:ext cx="2557038" cy="1754326"/>
          </a:xfrm>
          <a:prstGeom prst="rect">
            <a:avLst/>
          </a:prstGeom>
          <a:noFill/>
        </p:spPr>
        <p:txBody>
          <a:bodyPr wrap="square" rtlCol="0">
            <a:spAutoFit/>
          </a:bodyPr>
          <a:lstStyle/>
          <a:p>
            <a:r>
              <a:rPr lang="en-US" dirty="0"/>
              <a:t>Calm app UI  uses rounded sans-serif which supports a calm mood that is less tacky and mechanical but more human</a:t>
            </a:r>
          </a:p>
        </p:txBody>
      </p:sp>
      <p:pic>
        <p:nvPicPr>
          <p:cNvPr id="8" name="Picture 7">
            <a:extLst>
              <a:ext uri="{FF2B5EF4-FFF2-40B4-BE49-F238E27FC236}">
                <a16:creationId xmlns:a16="http://schemas.microsoft.com/office/drawing/2014/main" id="{9959BE3D-C995-412B-EAC6-B63A98253447}"/>
              </a:ext>
            </a:extLst>
          </p:cNvPr>
          <p:cNvPicPr>
            <a:picLocks noChangeAspect="1"/>
          </p:cNvPicPr>
          <p:nvPr/>
        </p:nvPicPr>
        <p:blipFill>
          <a:blip r:embed="rId3"/>
          <a:stretch>
            <a:fillRect/>
          </a:stretch>
        </p:blipFill>
        <p:spPr>
          <a:xfrm>
            <a:off x="6543584" y="365125"/>
            <a:ext cx="2520538" cy="3429000"/>
          </a:xfrm>
          <a:prstGeom prst="rect">
            <a:avLst/>
          </a:prstGeom>
        </p:spPr>
      </p:pic>
      <p:sp>
        <p:nvSpPr>
          <p:cNvPr id="9" name="TextBox 8">
            <a:extLst>
              <a:ext uri="{FF2B5EF4-FFF2-40B4-BE49-F238E27FC236}">
                <a16:creationId xmlns:a16="http://schemas.microsoft.com/office/drawing/2014/main" id="{983114B9-2E74-A9CF-1767-B66836B40F14}"/>
              </a:ext>
            </a:extLst>
          </p:cNvPr>
          <p:cNvSpPr txBox="1"/>
          <p:nvPr/>
        </p:nvSpPr>
        <p:spPr>
          <a:xfrm>
            <a:off x="9197919" y="382000"/>
            <a:ext cx="2155881" cy="4247317"/>
          </a:xfrm>
          <a:prstGeom prst="rect">
            <a:avLst/>
          </a:prstGeom>
          <a:noFill/>
        </p:spPr>
        <p:txBody>
          <a:bodyPr wrap="square" rtlCol="0">
            <a:spAutoFit/>
          </a:bodyPr>
          <a:lstStyle/>
          <a:p>
            <a:r>
              <a:rPr lang="en-US" dirty="0"/>
              <a:t>This shows how to combine rounded text with all caps and making letters close to each other keep a calm vibe but also extract excitement and importance. I can use this for the Competition page for my app which brings excitement into growing healthy sleep habits.</a:t>
            </a:r>
          </a:p>
        </p:txBody>
      </p:sp>
      <p:pic>
        <p:nvPicPr>
          <p:cNvPr id="11" name="Picture 10">
            <a:extLst>
              <a:ext uri="{FF2B5EF4-FFF2-40B4-BE49-F238E27FC236}">
                <a16:creationId xmlns:a16="http://schemas.microsoft.com/office/drawing/2014/main" id="{8CFD037C-5F8D-3021-8C42-FE1DBC29D776}"/>
              </a:ext>
            </a:extLst>
          </p:cNvPr>
          <p:cNvPicPr>
            <a:picLocks noChangeAspect="1"/>
          </p:cNvPicPr>
          <p:nvPr/>
        </p:nvPicPr>
        <p:blipFill>
          <a:blip r:embed="rId4"/>
          <a:srcRect b="31883"/>
          <a:stretch>
            <a:fillRect/>
          </a:stretch>
        </p:blipFill>
        <p:spPr>
          <a:xfrm>
            <a:off x="4116822" y="3608361"/>
            <a:ext cx="2426762" cy="2884514"/>
          </a:xfrm>
          <a:prstGeom prst="rect">
            <a:avLst/>
          </a:prstGeom>
        </p:spPr>
      </p:pic>
      <p:sp>
        <p:nvSpPr>
          <p:cNvPr id="12" name="Arrow: Left 11">
            <a:extLst>
              <a:ext uri="{FF2B5EF4-FFF2-40B4-BE49-F238E27FC236}">
                <a16:creationId xmlns:a16="http://schemas.microsoft.com/office/drawing/2014/main" id="{9F3230ED-A02A-4D24-B28F-B7FE10E7045B}"/>
              </a:ext>
            </a:extLst>
          </p:cNvPr>
          <p:cNvSpPr/>
          <p:nvPr/>
        </p:nvSpPr>
        <p:spPr>
          <a:xfrm rot="2778882">
            <a:off x="6178774" y="4519742"/>
            <a:ext cx="1273558" cy="417894"/>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Left 12">
            <a:extLst>
              <a:ext uri="{FF2B5EF4-FFF2-40B4-BE49-F238E27FC236}">
                <a16:creationId xmlns:a16="http://schemas.microsoft.com/office/drawing/2014/main" id="{F0D64403-3A64-699F-9C6B-6C56526856DB}"/>
              </a:ext>
            </a:extLst>
          </p:cNvPr>
          <p:cNvSpPr/>
          <p:nvPr/>
        </p:nvSpPr>
        <p:spPr>
          <a:xfrm rot="5400000">
            <a:off x="5458945" y="2924916"/>
            <a:ext cx="3895056" cy="296059"/>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5D2F8C6-7D8F-084B-3004-419475F2541F}"/>
              </a:ext>
            </a:extLst>
          </p:cNvPr>
          <p:cNvSpPr txBox="1"/>
          <p:nvPr/>
        </p:nvSpPr>
        <p:spPr>
          <a:xfrm>
            <a:off x="7406473" y="4945328"/>
            <a:ext cx="4726442" cy="1754326"/>
          </a:xfrm>
          <a:prstGeom prst="rect">
            <a:avLst/>
          </a:prstGeom>
          <a:noFill/>
        </p:spPr>
        <p:txBody>
          <a:bodyPr wrap="square" rtlCol="0">
            <a:spAutoFit/>
          </a:bodyPr>
          <a:lstStyle/>
          <a:p>
            <a:r>
              <a:rPr lang="en-US" dirty="0"/>
              <a:t>It is important to understand contrast here. As both are large and bolded text but the one to the left brings out danger and anxiety because of how sharp the text is. So large text must remain rounded to maintain calmness while also bringing out excitement</a:t>
            </a:r>
          </a:p>
        </p:txBody>
      </p:sp>
    </p:spTree>
    <p:extLst>
      <p:ext uri="{BB962C8B-B14F-4D97-AF65-F5344CB8AC3E}">
        <p14:creationId xmlns:p14="http://schemas.microsoft.com/office/powerpoint/2010/main" val="22214914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1702</TotalTime>
  <Words>205</Words>
  <Application>Microsoft Office PowerPoint</Application>
  <PresentationFormat>Widescreen</PresentationFormat>
  <Paragraphs>12</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6.1040 Visual Design Study</vt:lpstr>
      <vt:lpstr>Color</vt:lpstr>
      <vt:lpstr>Typography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Gebrewold, Yabetse E</dc:creator>
  <cp:lastModifiedBy>Yabetse Geb</cp:lastModifiedBy>
  <cp:revision>1</cp:revision>
  <dcterms:created xsi:type="dcterms:W3CDTF">2025-10-29T17:16:29Z</dcterms:created>
  <dcterms:modified xsi:type="dcterms:W3CDTF">2025-10-30T21:39:28Z</dcterms:modified>
</cp:coreProperties>
</file>